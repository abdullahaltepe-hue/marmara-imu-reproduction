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5A572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Simulation-Based Reproduction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Comparative Sensor Fusion Algorithms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Miniature IMU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Badia et al. (ISITIA 2023) with a Synthetic MPU-6050 Pipeline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Analytical ATmega328P Timing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Altepe  ·  Mehmet Bahçeci  ·  Yusuf Oruç  ·  Murat Demir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cover, in seven phases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508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IMUs, and why each sensor fails alone.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128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167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Paper &amp; Our Approach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487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Badia et al. did; why we went simulation-only.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71216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712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III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28254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1: Trigonometric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1455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math · code · result · evaluation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529584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29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34838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2: Kalman Filter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8039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math · code · result · evaluation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187952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879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142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3: Madgwick Filter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4462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math · code · result · evaluation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846320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846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4800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4: Mahony Filter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math · code · result · evaluation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5504688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5046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00200" y="5458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&amp; Reproduction Verdict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00200" y="5779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claims tested; one surprising divergence.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“Orientation”?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angles describe how an object is rotated in 3-D space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tilt your phone, three things can change: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rotation around the long axis (tilting sideways)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rotation around the short axis (tilting forward/back)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rotation around the vertical axis (turning left/right)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estimate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and pitch only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MPU-6050 has no magnetometer, so yaw drifts uncorrected. Same scope as the reference paper.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645920"/>
            <a:ext cx="4937760" cy="42062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1500000">
            <a:off x="8595360" y="2377440"/>
            <a:ext cx="13716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1500000">
            <a:off x="8595360" y="237744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4A82"/>
                </a:solidFill>
              </a:rPr>
              <a:t>phone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983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Held flat: roll = 0°, pitch = 0°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Tilted right: roll = +25°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Tipped forward: pitch = +25°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Need This?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estimation appears almost everywhere in modern engineering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394960" cy="22402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73152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116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468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quadcopter has to know it is level before it can hover, turn, or land safely.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94960" cy="22402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691640"/>
            <a:ext cx="73152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116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Headsets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52360" y="2468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headset cannot track head rotation in real time, the virtual world feels jittery and motion sickness follows.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" y="4251960"/>
            <a:ext cx="5394960" cy="22402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4251960"/>
            <a:ext cx="73152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5720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Self-Balancing Robots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91640" y="50292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two-wheel robot stays upright only as long as it knows exactly which direction it is leaning.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55080" y="4251960"/>
            <a:ext cx="5394960" cy="22402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55080" y="4251960"/>
            <a:ext cx="73152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57200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52360" y="50292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Smart-watches use orientation to count steps, classify activities, and detect falls.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Hardware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MPU-6050 sensor on an Arduino Nano — the cheapest realistic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InvenSense MPU-6050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the IMU — the sensor that does the measuring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cost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 $3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Tri-axis accelerometer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±2 g default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Tri-axis gyroscope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±250°/s default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I²C, up to 400 kHz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3.3 V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is: </a:t>
            </a:r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rice-grain-sized chip with two micro-mechanical sensors and an I²C interface — sold on a 2 cm breakout board.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(ATmega328P)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06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the brain — runs the algorithm in real time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8-bit AVR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 MHz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KB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32 KB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cost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 $5 (clone)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with: </a:t>
            </a:r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phone has ~1 million times more compute. Algorithms must be tiny enough to run inside this budget at 100 Hz.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Sensors Inside the IMU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alone is incomplete — the trick is in their characters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“Which way is gravity pulling me right now?”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889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Stable in the long run — no drift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Very noisy in the short run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Confused by any vibration or shake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7240" y="4480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Analogy: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like a friend who always knows which way is down, but who twitches a lot when answering.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44652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“How fast am I spinning right now?”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889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Smooth and responsive in the short run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24612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To get an angle we must integrate over time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70332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122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Tiny bias → error grows linearly forever (drift)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6446520" y="4480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Analogy: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like a friend with a great sense of motion but a bad memory — every minute they drift further from the truth.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Neither Sensor Alone Is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modes, both real, both visible in our experiments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alone → noise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Each accelerometer sample is contaminated by Gaussian noise (~0.026 m/s² in our model). When we apply atan2 to recover the angle, that noise leaks straight through.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Effect: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the angle estimate jitters by roughly ±0.5° every sample, even though the sensor is mechanically still.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617720"/>
            <a:ext cx="4937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Measured: σ_Trig = 0.154°  (≈ 4× larger than Mahony)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alone → drift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A gyro sample is much cleaner than an accelerometer sample. But a real gyro has a constant bias (~0.5°/s in our model). Integrating that bias accumulates without bound.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Effect: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after 1 minute the angle is wrong by 30°; after 10 minutes, by ~300°. A still sensor looks like it has spun a full turn.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4617720"/>
            <a:ext cx="4937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This is why we never use the gyro alone for absolute angle.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Sensor Fusion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two sensors so each one’s strength covers the other’s weakness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The fusion idea, written like an equation: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74320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Accelerometer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stable but noisy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good over minutes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bad over milliseconds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+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840480" y="2331720"/>
            <a:ext cx="274320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Gyroscope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smooth but drifts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good over milliseconds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bad over minutes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→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7223760" y="2148840"/>
            <a:ext cx="32004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Fused Estimate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5A572"/>
                </a:solidFill>
              </a:rPr>
              <a:t>smooth AND stable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better than either source alone, on every time scale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4415" cy="12801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8348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What changes between fusion algorithms?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Only the answer to one question: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F2937"/>
                </a:solidFill>
              </a:rPr>
              <a:t>“how should I weight the accelerometer evidence against the gyroscope evidence at every step?”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 The four algorithms in the next slide give four different mathematical answers.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Paper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Badia et al. did, and what they claimed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27632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Sansone, Bartolini, Perin, Badia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— “A Comparative Analysis of Sensor Fusion Algorithms for Miniature IMU Measurements,” </a:t>
            </a:r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</a:rPr>
              <a:t>ISITIA 2023, IEEE.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Wired an MPU-6050 to an Arduino Nano.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Implemented the four algorithms directly on the Arduino.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Held the sensor at known ±15° tilts.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Measured (a) the accuracy of each estimate vs. the known tilt and (b) the per-step compute time on the Arduino.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main findings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Trigonometric  →  noisiest output.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Mahony  →  fastest filter per step.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Kalman  ≈  Madgwick in compute time.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Kalman  →  most accurate.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1E2761"/>
                </a:solidFill>
              </a:rPr>
              <a:t>Headline: “accuracy → Kalman; speed → Mahony; Madgwick in between.”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Challenge: No Hardware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fully simulated reproduction — here is why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The constraint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We had no MPU-6050 module and no Arduino Nano on hand at the time of writing.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Two options: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A.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Order hardware, build a mechanical ±15° fixture, run the experiment (~2 weeks).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B.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Build a synthetic data pipeline that mimics the MPU-6050 and an analytical timing model for the ATmega328P (~1 week).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We chose B.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We chose option B — a simulation reproduction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92240" y="24231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7A3E"/>
                </a:solidFill>
              </a:rPr>
              <a:t>Two real benefits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Ground-truth orientation is exact — no mechanical fixture error to subtract.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The whole experiment is deterministic — anyone with Python can re-run it bit-for-bit.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45309"/>
                </a:solidFill>
              </a:rPr>
              <a:t>One real cost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• Synthetic Gaussian noise does not capture every aspect of real silicon (temperature drift, vibration sensitivity, 1/f flicker).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E2761"/>
                </a:solidFill>
              </a:rPr>
              <a:t>If hardware is added later, the same code base absorbs real CSV logs without structural changes.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Simulation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ground-truth tilt → noisy synthetic IMU → four algorithms → metrics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Read this left-to-right — each block feeds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2194560" cy="13716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tilt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we choose ±15°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6974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83280" y="2697480"/>
            <a:ext cx="2377440" cy="13716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IMU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noise + bias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6974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2377440" cy="13716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estimators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Trig | Kalman | Madgwick | Mahony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0" y="26974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052560" y="2697480"/>
            <a:ext cx="2377440" cy="13716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5256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accuracy + compute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(roll, pitch)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(acc, gyro)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(estimated angles)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94415" cy="12801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specification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3492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Sample rate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100 Hz   |  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Segments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 (±15° roll &amp; pitch)   |  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Duration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30 s each   |  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Total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12,000 samples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7150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Same noise model and bias realisation across all four segments — like a single physical sensor.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IMU: Noise &amp; Bias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match the MPU-6050 datasheet at default ranges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 noise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 m/s²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 @ 44 Hz BW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Gyroscope noise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°/s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 bias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m/s²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typical, drawn once per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Gyroscope bias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°/s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typical, drawn once per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reference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Gyro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±250 °/s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691640"/>
            <a:ext cx="457200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is generated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1. Pick a known tilt (e.g. roll = +15°).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2. Project gravity into the body frame analytically — this gives the noise-free accelerometer reading.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3. Add Gaussian noise + a constant bias to both sensors.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4. The gyroscope is zero-mean (the sensor is static) plus its own bias and noise.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5. Repeat 100 times per second for 30 s → 3,000 samples.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1E2761"/>
                </a:solidFill>
              </a:rPr>
              <a:t>Because we generate the data, the ground-truth tilt is known to infinite precision — perfect for accuracy comparison.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Protocol &amp; Success Criterion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measure, and what counts as a successful reproduction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1. Run all four algorithms on the same four ±15° segments.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2. Discard the first 5 s of each segment to let the filters converge.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3. On the remaining 25 s, compute |μ| (mean error vs. ground truth) and σ (standard deviation of the error).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4. Average across the four segments → one row per algorithm.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5. Compute per-step time analytically from operation counts × ATmega328P cycle costs.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is successful if…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C1.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σ_Trig is the largest in the table.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C2.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Kalman and Madgwick agree within 20 % in compute time.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C3.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Mahony is faster than both Kalman and Madgwick.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C4.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Kalman is among the lowest-σ algorithms.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C5.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Trig is the most expensive method overall (implicit).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 Method —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unfused baseline. Just the accelerometer + atan2.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4   ·   Trigonometric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When the IMU is static, the accelerometer reads gravity projected onto its three axes. From that projection we recover roll and pitch directly using trigonometry — no fusion, no filtering, no state.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Why we include it: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every fancy filter has to beat this baseline. If it does not, the extra complexity is not earning its place.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and cons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46888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122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Trivial to implement (3 lines of code).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260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Zero drift — always anchored to gravity.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3832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Passes every bit of accelerometer noise into the angle.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404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Useless under vibration or motion.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29768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 yaw — gravity tells you nothing about heading.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 Method — Math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atan2 calls, that is the whole algorithm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4   ·   Trigonometric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4415" cy="182880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10180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  =  atan2( a_y , a_z )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 =  atan2( −a_x , √( a_y² + a_z² ) 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</a:rPr>
              <a:t>Reading the formulas: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• a_x, a_y, a_z are the three accelerometer channels.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• φ (roll) is the angle the gravity vector makes with the body’s z-axis in the y-z plane.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• θ (pitch) tilts the gravity vector out of that plane along x.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• atan2 is a four-quadrant arctangent — it returns the correct sign automatically.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6B7280"/>
                </a:solidFill>
              </a:rPr>
              <a:t>No state, no memory, no parameters to tune. Each estimate is computed from scratch on every sample.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 Method —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algorithms.py — the entire estimator in five lines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4   ·   Trigonometric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766560" cy="2377440"/>
          </a:xfrm>
          <a:prstGeom prst="rect">
            <a:avLst/>
          </a:prstGeom>
          <a:solidFill>
            <a:srgbClr val="F1F3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73152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39112"/>
            <a:ext cx="6400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TrigEstimator: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update(self, acc):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ax, ay, az = acc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  = atan2(ay, az)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pitch = atan2(-ax, sqrt(ay*ay + az*az))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roll, pitch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874520"/>
            <a:ext cx="3931920" cy="23774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0116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Notes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No __init__ — there is no state to keep.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Same code, line-for-line, on the Arduino in C++.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Total: 6 lines.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4415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instruction count (used by the timing model)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0292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 × atan2  +  1 × sqrt  +  3 × fmul  +  1 × fadd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≈ 9,090 cycles  ≈  568 µs / step on the ATmega328P @16 MHz.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 Method — Result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estimate at +15° tilt, plus accuracy numbers averaged over the four segments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4   ·   Trigonometric</a:t>
            </a:r>
            <a:endParaRPr lang="en-US" sz="1100" dirty="0"/>
          </a:p>
        </p:txBody>
      </p:sp>
      <p:pic>
        <p:nvPicPr>
          <p:cNvPr id="7" name="Image 0" descr="/sessions/zealous-loving-bohr/mnt/outputs/fig_trig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783080"/>
            <a:ext cx="457200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|μ| roll = 0.302°    σ roll = 0.154°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|μ| pitch = 0.086°    σ pitch = 0.152°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3429000"/>
            <a:ext cx="457200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 (estimated)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6948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568 µs / step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max sustainable rate ≈ 1,760 Hz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94415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Take-away.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Trig confirms its role as the noisy baseline. The mean offset (~0.3°) is just the bias floor — every algorithm sees it because every algorithm uses the same biased accelerometer. The σ of 0.154° is the largest in the comparison and roughly 4× larger than Mahony’s.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 the gyroscope, correct with the accelerometer — weighted by uncertainty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4   ·   Kalman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12080" cy="13716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PREDICT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Use the gyroscope to push the angle estimate forward in time. Uncertainty grows.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12080" cy="1371600"/>
          </a:xfrm>
          <a:prstGeom prst="rect">
            <a:avLst/>
          </a:prstGeom>
          <a:solidFill>
            <a:srgbClr val="F8F9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UPDATE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Use the accelerometer to correct the prediction. Uncertainty shrinks.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These two steps run on every single sample, 100 times per second.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4415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Kalman tracks not just the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estimate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of the angle, but also its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uncertainty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. When uncertainty is large, it leans on the accelerometer; when uncertainty is small, it trusts the gyroscope. The blending weight (</a:t>
            </a:r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</a:rPr>
              <a:t>Kalman gain 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) is recomputed on every step.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Math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form per axis: state = [angle, gyro bias]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4   ·   Kalman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4415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State    x = [ θ ,  b ]ᵀ          F = [[1, −Δt],[0, 1]]          B = [Δt, 0]ᵀ          H = [1, 0]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212080" cy="137160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x̂ = F · x  +  B · 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F · P · Fᵀ  +  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5394960" cy="137160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= P·Hᵀ · ( H·P·Hᵀ + R )⁻¹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← x̂ + K · ( θ_acc − H·x̂ )       P ← (I − K·H) · 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2344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3776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Tuning knobs. 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Q = process noise (how much you trust the gyro).  R = measurement noise (how much you trust the accelerometer).  </a:t>
            </a:r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6B7280"/>
                </a:solidFill>
              </a:rPr>
              <a:t>We use Q = diag(1e-3, 1e-5) and R = 0.03 — sensible defaults from the Kalman literature.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F2937"/>
                </a:solidFill>
              </a:rPr>
              <a:t>We run TWO of these filters in parallel — one for roll, one for pitch.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algorithms.py — single-axis update 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4   ·   Kalman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7315200" cy="3657600"/>
          </a:xfrm>
          <a:prstGeom prst="rect">
            <a:avLst/>
          </a:prstGeom>
          <a:solidFill>
            <a:srgbClr val="F1F3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73152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39112"/>
            <a:ext cx="694944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update(self, omega, theta_meas, dt):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--- Predict (use gyro)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[[1.0, -dt], [0.0, 1.0]]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self.x = F @ self.x + [dt, 0] * omega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 = F @ self.P @ F.T + self.Q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--- Update (use accelerometer)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self.P[0,0] + self.R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self.P[:,0] / S          # Kalman gain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theta_meas - self.x[0]   # innovation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self.x = self.x + K * y      # blend!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 = (I - outer(K, [1,0])) @ self.P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self.x[0]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383280" cy="36576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4231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39 fmul · 25 fadd · 4 fdiv · 1 sqrt · 2 atan2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≈ 16,850 cycles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≈ 1,053 µs / step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B7280"/>
                </a:solidFill>
              </a:rPr>
              <a:t>Two such filters run in parallel — one for roll, one for pitch.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6692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Note. The matrix algebra is unrolled by hand on the Arduino so no linear-algebra library is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Result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estimate at +15° tilt, accuracy and timing numbers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4   ·   Kalman Filter</a:t>
            </a:r>
            <a:endParaRPr lang="en-US" sz="1100" dirty="0"/>
          </a:p>
        </p:txBody>
      </p:sp>
      <p:pic>
        <p:nvPicPr>
          <p:cNvPr id="7" name="Image 0" descr="/sessions/zealous-loving-bohr/mnt/outputs/fig_kalma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783080"/>
            <a:ext cx="457200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|μ| roll = 0.297°    σ roll = 0.046°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|μ| pitch = 0.097°    σ pitch = 0.047°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3429000"/>
            <a:ext cx="457200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 (estimated)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6948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1,053 µs / step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max sustainable rate ≈ 950 Hz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94415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Take-away.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Kalman cuts the trig noise by ~70 %: σ drops from 0.154° to 0.046°. The estimate is visibly tight around the bias floor of ~14.7° (the constant offset comes from the same accelerometer bias every algorithm sees). The cost is the heaviest compute of the four — roughly 1 ms per step.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Strengths and Costs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gain, what you pay for, when to choose this filter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4   ·   Kalman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Optimal under Gaussian-noise assumption — the math is provably the best linear filter.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Tracks gyro bias as part of the state — estimates and removes drift in real time.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Adapts blending weight (K) automatically as uncertainty changes.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6344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Generalises naturally to higher-dimensional state (full 3-D, multiple sensors).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46888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122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Heaviest per-step cost in our experiment: ~1,053 µs.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1228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Q and R must be tuned — wrong values give either sluggish or jittery output.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31920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Optimality assumes Gaussian noise; real silicon deviates from this.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663440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1228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Matrix algebra is harder to debug on a microcontroller than scalar code.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 Filter —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small step downhill, in the direction that makes the gravity error smaller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4   ·   Madgwick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Madgwick uses a quaternion (a 4-number representation of orientation that does not have the “gimbal lock” problem of Euler angles).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It defines an error: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F2937"/>
                </a:solidFill>
              </a:rPr>
              <a:t>“my current quaternion predicts the gravity should point in this direction, but the accelerometer says it points in that direction.”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Each sample, it takes one tiny step of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gradient descent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in the direction that makes that error smaller. The step size is controlled by a single parameter, β.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Imagine an error landscape — peaks and valleys representing how wrong each candidate quaternion is.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Madgwick says: I do not know where the lowest point is, but I know my local slope. Let me take a small step downhill, in the direction the gravity-error gradient tells me.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5A572"/>
                </a:solidFill>
              </a:rPr>
              <a:t>Combined with the gyroscope’s integration step, this slowly walks the quaternion toward the truth — fast enough to track motion, slow enough to ignore noise.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 Filter — Math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integration + one gradient-descent step per sample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4   ·   Madgwick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4415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q[k]  =  q[k−1]  +  q̇_gyro · Δt  −  β · ∇f / ‖∇f‖ · Δt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657600" cy="23774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q̇_gyro · Δt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Integrate the gyroscope rate to push the quaternion forward in time. This is the “smooth but drifty” gyro contribution.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657600"/>
            <a:ext cx="3657600" cy="23774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∇f / ‖∇f‖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4297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The unit gradient of the gravity-error function — the direction of fastest decrease in the error landscape.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3657600"/>
            <a:ext cx="3657600" cy="23774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 · Δt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4297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The step size. Bigger β trusts the accelerometer more. We use the literature default β = 0.1.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 Filter —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core from algorithms.py (the real code unrolls the gradient by hand for speed)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4   ·   Madgwick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7315200" cy="3840480"/>
          </a:xfrm>
          <a:prstGeom prst="rect">
            <a:avLst/>
          </a:prstGeom>
          <a:solidFill>
            <a:srgbClr val="F1F3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73152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39112"/>
            <a:ext cx="694944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update(self, acc, gyro, dt):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gyro -&gt; quaternion derivative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qDot = 0.5 * quat_mult(self.q, [0, *gyro])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gravity-error and its gradient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   = R(self.q).T @ [0, 0, 1] - normalize(acc)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 = jacobian(f, self.q)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subtract beta-scaled gradient step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qDot = qDot - self.beta * grad / norm(grad)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integrate, then renormalize the quaternion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self.q = self.q + qDot * dt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self.q = self.q / norm(self.q)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383280" cy="38404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423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64 fmul · 39 fadd · 11 fdiv · 3 sqrt · 0 atan2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≈ 17,510 cycles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≈ 1,094 µs / step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B7280"/>
                </a:solidFill>
              </a:rPr>
              <a:t>Heaviest in fmul because the gradient has many vector products; no atan2 because everything stays in quaternion form.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8521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Note. Production Madgwick code (e.g. the original C implementation) inlines the Jacobian into ~25 explicit lines for ATmega-level speed.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 Filter — Result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estimate at +15° tilt, accuracy and timing numbers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4   ·   Madgwick Filter</a:t>
            </a:r>
            <a:endParaRPr lang="en-US" sz="1100" dirty="0"/>
          </a:p>
        </p:txBody>
      </p:sp>
      <p:pic>
        <p:nvPicPr>
          <p:cNvPr id="7" name="Image 0" descr="/sessions/zealous-loving-bohr/mnt/outputs/fig_madgwick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783080"/>
            <a:ext cx="457200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|μ| roll = 0.290°    σ roll = 0.090°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|μ| pitch = 0.109°    σ pitch = 0.090°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3429000"/>
            <a:ext cx="457200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 (estimated)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6948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1,094 µs / step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max sustainable rate ≈ 914 Hz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94415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Take-away.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Madgwick sits in the middle: σ = 0.090° is twice as good as Trig but twice as noisy as Kalman. Compute is essentially the same as Kalman (within 4 %) — confirming the reference paper’s claim. With a higher β it would track faster but pass more noise; with smaller β it would smooth more but lag.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 Filter — Strengths and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4   ·   Madgwick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Single tuning knob (β) — one number to find, not a covariance matrix.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Free of singularities thanks to quaternion representation.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Open-source reference C code is available and battle-tested.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634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Very widely used in hobby/quadcopter firmware (Arduino, Betaflight…).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46888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122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Compute roughly the same as Kalman (~1,094 µs).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Noise floor higher than Kalman in our experiment (σ ≈ 0.09° vs 0.05°).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31920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β must be re-tuned per use case — no universal value.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663440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1228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No explicit uncertainty output — harder to plug into systems that need confidence intervals.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Filter —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control-theory way of doing fusion — proportional-integral on the gravity error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of 4   ·   Mahony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Mahony also uses a quaternion, but instead of gradient descent it uses a feedback loop borrowed from control engineering.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Step 1: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compute the cross product between the measured gravity (accel) and the predicted gravity (from the current quaternion). The cross product gives an error vector pointing in the direction of mismatch.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Step 2: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feed that error through a PI (proportional + integral) controller and add the output as a correction to the gyroscope reading.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7280"/>
                </a:solidFill>
              </a:rPr>
              <a:t>Then integrate the corrected gyro into the quaternion. That is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structurally cheap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No matrix inversion (unlike Kalman).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No gradient normalisation (unlike Madgwick — saves a sqrt and four divisions).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No covariance update.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5A572"/>
                </a:solidFill>
              </a:rPr>
              <a:t>Just three arithmetic operations: cross product, scalar multiply, vector add. The cheapest fusion filter we tested.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Filter — Math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error → PI controller → corrected gyro rate → integrate quaternion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of 4   ·   Mahony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 =  â  ×  R(q)ᵀ ĝ           (cross-product gravity error)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4415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ω_corr  =  ω_gyro  +  k_p · e  +  k_i · ∫ e dt           (PI correction)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91440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776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q̇  =  ½  q  ⊗  [0, ω_corr]           (quaternion integration)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4415" cy="10515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Tuning knobs. 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k_p (how strongly to correct on each error sample) and k_i (how strongly to correct accumulated error).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We use k_p = 10 and k_i = 0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 — the values published in the reference paper. The authors note that the integral term did not help in their static scenario and was dropped to avoid wind-up.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Filter —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core from algorithms.py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of 4   ·   Mahony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7315200" cy="3840480"/>
          </a:xfrm>
          <a:prstGeom prst="rect">
            <a:avLst/>
          </a:prstGeom>
          <a:solidFill>
            <a:srgbClr val="F1F3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73152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39112"/>
            <a:ext cx="694944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update(self, acc, gyro, dt):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predicted gravity from current quaternion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R(self.q).T @ [0, 0, 1]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error = measured  x  predicted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cross(normalize(acc), v)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PI correction on gyro (ki=0 here)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omega_corr = gyro + self.kp * 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integrate quaternion + renormalize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qDot   = 0.5 * quat_mult(self.q, [0, *omega_corr])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self.q = self.q + qDot * dt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self.q = self.q / norm(self.q)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383280" cy="38404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423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34 fmul · 26 fadd · 7 fdiv · 2 sqrt · 0 atan2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≈ 10,640 cycles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≈ 665 µs / step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B7280"/>
                </a:solidFill>
              </a:rPr>
              <a:t>Lightest of the three filters — no atan2, no gradient normalisation, no matrix algebra.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Filter — Result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estimate at +15° tilt, accuracy and timing numbers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of 4   ·   Mahony Filter</a:t>
            </a:r>
            <a:endParaRPr lang="en-US" sz="1100" dirty="0"/>
          </a:p>
        </p:txBody>
      </p:sp>
      <p:pic>
        <p:nvPicPr>
          <p:cNvPr id="7" name="Image 0" descr="/sessions/zealous-loving-bohr/mnt/outputs/fig_mahony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783080"/>
            <a:ext cx="4572000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|μ| roll = 0.255°    σ roll = 0.035°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|μ| pitch = 0.182°    σ pitch = 0.036°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3429000"/>
            <a:ext cx="457200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 (estimated)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6948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665 µs / step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max sustainable rate ≈ 1,504 Hz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94415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Take-away.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Mahony with k_p = 10 produces the tightest σ in the entire comparison (0.035°), and does it at the lowest compute cost among the filters (665 µs). The price is somewhat slower transient response — k_p is essentially a low-pass cutoff. For our static-tilt scenario this is no penalty; for fast motion it would be.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Filter — Strengths and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of 4   ·   Mahony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Lowest compute cost among the three filters (~665 µs).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Tightest σ in our comparison (0.035°) at k_p = 10.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Two scalar gains — easy to reason about as a control problem.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634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Easy to port to fixed-point on tiny MCUs.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46888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122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Aggressive k_p slows transient response — bad under fast motion.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Integral term can wind up — must be reset carefully if used.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31920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No explicit uncertainty output — same downside as Madgwick.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663440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1228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k_p must be re-tuned if the sensor or sample rate changes.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Accuracy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algorithms on the same +15° segment, plus the full averaged table</a:t>
            </a:r>
            <a:endParaRPr lang="en-US" sz="1400" dirty="0"/>
          </a:p>
        </p:txBody>
      </p:sp>
      <p:pic>
        <p:nvPicPr>
          <p:cNvPr id="5" name="Image 0" descr="/sessions/zealous-loving-bohr/mnt/outputs/fig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200400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|μ| 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pitch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0.297°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Madgwick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17804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</a:rPr>
              <a:t>Take-aways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|μ| similar everywhere — accelerometer bias dominates.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σ separates the algorithms cleanly.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Mahony tightest, Kalman second, Madgwick third, Trig last.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Compute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per step on the ATmega328P at 16 MHz</a:t>
            </a:r>
            <a:endParaRPr lang="en-US" sz="1400" dirty="0"/>
          </a:p>
        </p:txBody>
      </p:sp>
      <p:pic>
        <p:nvPicPr>
          <p:cNvPr id="5" name="Image 0" descr="/sessions/zealous-loving-bohr/mnt/outputs/fig_compute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657600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μs /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Madgwick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17804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</a:rPr>
              <a:t>Take-aways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Mahony ~1.6× faster than Kalman/Madgwick.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• Kalman ≈ Madgwick within 4 % — matches the paper.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45309"/>
                </a:solidFill>
              </a:rPr>
              <a:t>• Trig is cheapest in our model — divergence next.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Surprising Divergence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of the five rankings our model disagrees with the paper — discussed honestly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28016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Badia et al. say: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</a:rPr>
              <a:t>Trigonometric is the most expensive of the four to compute on the Arduino Nano.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72"/>
                </a:solidFill>
              </a:rPr>
              <a:t>Our analytical model says: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Trigonometric is actually the cheapest — just two atan2 calls and a sqrt.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plausible explanations: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15258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3192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boundary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On real hardware, “trig per-step time” may include the I²C sensor read; our model times only the angle math itself.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38218" y="3794760"/>
            <a:ext cx="3515258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6818" y="3931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681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06898" y="393192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 implementation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6818" y="452628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avr-libc’s atan2f cycle cost varies between toolchain versions; a slow version could dominate Trig.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7797" y="3794760"/>
            <a:ext cx="3515258" cy="201168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6397" y="3931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6397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96477" y="393192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Soft-float calibration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56397" y="452628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Our per-op cycle costs are typical averages with ±20 % uncertainty for the specific operand ranges.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Verdict on this fifth claim: partial — a real-Arduino micros() benchmark would settle it.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Verdict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claims tested; four confirmed, one diverges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1737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Trigonometric has the largest noise σ.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65960" y="2075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Confirmed: σ_Trig = 0.154°, the largest in our table.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180015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7A3E"/>
                </a:solidFill>
              </a:rPr>
              <a:t>Confirmed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11094415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965960" y="2606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Kalman ≈ Madgwick in compute time.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965960" y="29443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Confirmed: 1053 μs vs 1094 μs (4 % gap).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180015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7A3E"/>
                </a:solidFill>
              </a:rPr>
              <a:t>Confirmed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429000"/>
            <a:ext cx="11094415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520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65960" y="3474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Mahony is the fastest of the three filters.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965960" y="38130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Confirmed: 665 μs, ~1.6× faster than the other two.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0180015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7A3E"/>
                </a:solidFill>
              </a:rPr>
              <a:t>Confirmed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297680"/>
            <a:ext cx="11094415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8056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89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965960" y="4343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Kalman is among the lowest-noise algorithms.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965960" y="46817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Confirmed: σ_Kalman = 0.046°, second-tightest in the table.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0180015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7A3E"/>
                </a:solidFill>
              </a:rPr>
              <a:t>Confirmed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5166360"/>
            <a:ext cx="11094415" cy="74980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924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2588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965960" y="5212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Trigonometric is the slowest method overall.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965960" y="55504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Diverges: in our analytical model Trig is actually the cheapest.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0180015" y="5349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Partial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showed, and how this work continues if hardware becomes available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showed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Independent re-implementation of all four algorithms in Python.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 controlled synthetic MPU-6050 pipeline that mirrors the reference paper’s static-tilt protocol.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An analytical ATmega328P timing model based on instruction counts.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Four of the paper’s five qualitative claims confirmed; one diverged honestly.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Reproducible code base, figures, and LaTeX paper released together.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57200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hardware becomes available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Wire MPU-6050 to Arduino Nano over I²C, verify raw read.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Port the four Python algorithms into one Arduino sketch.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Build a mechanical ±15° fixture; record 30 s segments.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Use micros() to measure real per-step time on the Arduino.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Replace the synthetic numbers in the paper’s tables with the measured ones — the structure stays the same.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i="1" dirty="0">
                <a:solidFill>
                  <a:srgbClr val="1E2761"/>
                </a:solidFill>
              </a:rPr>
              <a:t>Settle the C5 divergence: real measurement either confirms the paper or our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University EEE  ·  IMU Reproduction Study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5A572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7CCE0"/>
                </a:solidFill>
              </a:rPr>
              <a:t>Questions and discussion welcome.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Abdullah Altepe  ·  Mehmet Bahçeci  ·  Yusuf Oruç  ·  Murat Demir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Marmara University, Department of Electrical and Electronics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Marmara University, Department of EEE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Fusion Reproduction Study (extended)</dc:title>
  <dc:subject>PptxGenJS Presentation</dc:subject>
  <dc:creator>Marmara EEE</dc:creator>
  <cp:lastModifiedBy>Marmara EEE</cp:lastModifiedBy>
  <cp:revision>1</cp:revision>
  <dcterms:created xsi:type="dcterms:W3CDTF">2026-05-04T15:03:33Z</dcterms:created>
  <dcterms:modified xsi:type="dcterms:W3CDTF">2026-05-04T15:03:33Z</dcterms:modified>
</cp:coreProperties>
</file>